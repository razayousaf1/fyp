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Museo Moderno Bold" pitchFamily="2" charset="77"/>
      <p:regular r:id="rId28"/>
      <p:bold r:id="rId29"/>
    </p:embeddedFont>
    <p:embeddedFont>
      <p:font typeface="Poppins" pitchFamily="2" charset="77"/>
      <p:regular r:id="rId30"/>
    </p:embeddedFont>
    <p:embeddedFont>
      <p:font typeface="Poppins Bold" pitchFamily="2" charset="7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4" autoAdjust="0"/>
  </p:normalViewPr>
  <p:slideViewPr>
    <p:cSldViewPr>
      <p:cViewPr>
        <p:scale>
          <a:sx n="65" d="100"/>
          <a:sy n="65" d="100"/>
        </p:scale>
        <p:origin x="1064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3511" y="653718"/>
            <a:ext cx="6410659" cy="1878986"/>
          </a:xfrm>
          <a:custGeom>
            <a:avLst/>
            <a:gdLst/>
            <a:ahLst/>
            <a:cxnLst/>
            <a:rect l="l" t="t" r="r" b="b"/>
            <a:pathLst>
              <a:path w="6410659" h="1878986">
                <a:moveTo>
                  <a:pt x="0" y="0"/>
                </a:moveTo>
                <a:lnTo>
                  <a:pt x="6410658" y="0"/>
                </a:lnTo>
                <a:lnTo>
                  <a:pt x="6410658" y="1878986"/>
                </a:lnTo>
                <a:lnTo>
                  <a:pt x="0" y="187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35831" y="-2768331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4449515"/>
            <a:ext cx="8115300" cy="111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9098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Contract.AI</a:t>
            </a:r>
            <a:r>
              <a:rPr lang="en-US" sz="9098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00861"/>
            <a:ext cx="7885202" cy="98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  <a:spcBef>
                <a:spcPct val="0"/>
              </a:spcBef>
            </a:pPr>
            <a:r>
              <a:rPr lang="en-US" sz="2754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Understand before you sign </a:t>
            </a:r>
          </a:p>
          <a:p>
            <a:pPr algn="l">
              <a:lnSpc>
                <a:spcPts val="3856"/>
              </a:lnSpc>
              <a:spcBef>
                <a:spcPct val="0"/>
              </a:spcBef>
            </a:pPr>
            <a:endParaRPr lang="en-US" sz="2754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740456" y="3155034"/>
            <a:ext cx="5639204" cy="6028057"/>
            <a:chOff x="0" y="0"/>
            <a:chExt cx="7518939" cy="8037409"/>
          </a:xfrm>
        </p:grpSpPr>
        <p:sp>
          <p:nvSpPr>
            <p:cNvPr id="8" name="TextBox 8"/>
            <p:cNvSpPr txBox="1"/>
            <p:nvPr/>
          </p:nvSpPr>
          <p:spPr>
            <a:xfrm>
              <a:off x="0" y="963372"/>
              <a:ext cx="7518939" cy="2070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81"/>
                </a:lnSpc>
              </a:pPr>
              <a:r>
                <a:rPr lang="en-US" sz="2986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Syed Yousaf Raza (70139122</a:t>
              </a:r>
            </a:p>
            <a:p>
              <a:pPr algn="just">
                <a:lnSpc>
                  <a:spcPts val="4181"/>
                </a:lnSpc>
              </a:pPr>
              <a:r>
                <a:rPr lang="en-US" sz="2986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Saad Naveed (70137375)</a:t>
              </a:r>
            </a:p>
            <a:p>
              <a:pPr algn="just">
                <a:lnSpc>
                  <a:spcPts val="4181"/>
                </a:lnSpc>
                <a:spcBef>
                  <a:spcPct val="0"/>
                </a:spcBef>
              </a:pPr>
              <a:r>
                <a:rPr lang="en-US" sz="2986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Abdur Rahim (70135511)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70583"/>
              <a:ext cx="3447224" cy="2308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601"/>
                </a:lnSpc>
                <a:spcBef>
                  <a:spcPct val="0"/>
                </a:spcBef>
              </a:pPr>
              <a:r>
                <a:rPr lang="en-US" sz="3286" b="1" u="none" strike="noStrike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Supervisor:</a:t>
              </a:r>
            </a:p>
            <a:p>
              <a:pPr marL="0" lvl="0" indent="0" algn="just">
                <a:lnSpc>
                  <a:spcPts val="4601"/>
                </a:lnSpc>
                <a:spcBef>
                  <a:spcPct val="0"/>
                </a:spcBef>
              </a:pPr>
              <a:r>
                <a:rPr lang="en-US" sz="3286" u="none" strike="noStrike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Sir Hafiz Ali Younas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419920"/>
              <a:ext cx="7098149" cy="1617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881"/>
                </a:lnSpc>
                <a:spcBef>
                  <a:spcPct val="0"/>
                </a:spcBef>
              </a:pPr>
              <a:r>
                <a:rPr lang="en-US" sz="3486" b="1" u="none" strike="noStrike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Session:</a:t>
              </a:r>
              <a:r>
                <a:rPr lang="en-US" sz="3486" u="none" strike="noStrike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Spring-2023-27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5046799" cy="797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881"/>
                </a:lnSpc>
                <a:spcBef>
                  <a:spcPct val="0"/>
                </a:spcBef>
              </a:pPr>
              <a:r>
                <a:rPr lang="en-US" sz="3486" b="1" u="none" strike="noStrike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Group Members: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2466" y="1038022"/>
            <a:ext cx="73212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r="-38888"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2466" y="2617808"/>
            <a:ext cx="7321246" cy="676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Legal documents in Pakistan govern everyday life — from rental agreements to employment contracts and business partnerships.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However, most citizens face critical barriers: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Formal Urdu script — difficult to read for millions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No affordable legal consultation available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Existing tools offer translation — not legal interpretation</a:t>
            </a:r>
          </a:p>
          <a:p>
            <a:pPr algn="just">
              <a:lnSpc>
                <a:spcPts val="3220"/>
              </a:lnSpc>
            </a:pPr>
            <a:endParaRPr lang="en-US" sz="240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These barriers leave tenants, freelancers, and small business owners signing contracts they do not understand — exposing them to hidden penalties, financial loss, and exploitation.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40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212899" y="16205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17327" y="1206372"/>
            <a:ext cx="7608955" cy="92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  <a:spcBef>
                <a:spcPct val="0"/>
              </a:spcBef>
            </a:pPr>
            <a:r>
              <a:rPr lang="en-US" sz="5403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23845"/>
            <a:ext cx="7677319" cy="657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Ordinary Pakistani citizens cannot comprehend Urdu legal documents because existing solutions: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Provide translation only — no legal risk interpretation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Offer no Roman Urdu output for digital accessibility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Are English-only with enterprise-level pricing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Have no understanding of Pakistani legal context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As a result, citizens unknowingly sign contracts containing hidden penalties, unfair termination clauses, and financial liabilities — with no affordable help available.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299" y="904875"/>
            <a:ext cx="77696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0299" y="2328545"/>
            <a:ext cx="7321246" cy="626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Develop a web-based platform for uploading Urdu legal documents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Implement OCR pipeline to extract Urdu text from scanned documents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Build NLP-based risk detection for penalty, financial, termination, and jurisdiction clauses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Develop Urdu to Roman Urdu transliteration module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Generate plain-language Roman Urdu explanations for each detected risk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Design an simple frontend for non-technical users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199026" y="904875"/>
            <a:ext cx="77696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Significance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38054" y="2328545"/>
            <a:ext cx="7321246" cy="4510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Protects vulnerable citizens from exploitative contracts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Makes legal comprehension accessible without a lawyer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First </a:t>
            </a:r>
            <a:r>
              <a:rPr lang="en-US" sz="2499" dirty="0" err="1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localised</a:t>
            </a: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 legal AI tool built for Pakistan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Delivers output in Roman Urdu — the format Pakistanis use daily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Free to use — no enterprise pricing or registration required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499" dirty="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9721085" y="1210773"/>
            <a:ext cx="11160735" cy="11181064"/>
          </a:xfrm>
          <a:custGeom>
            <a:avLst/>
            <a:gdLst/>
            <a:ahLst/>
            <a:cxnLst/>
            <a:rect l="l" t="t" r="r" b="b"/>
            <a:pathLst>
              <a:path w="11160735" h="11181064">
                <a:moveTo>
                  <a:pt x="11160735" y="0"/>
                </a:moveTo>
                <a:lnTo>
                  <a:pt x="0" y="0"/>
                </a:lnTo>
                <a:lnTo>
                  <a:pt x="0" y="11181064"/>
                </a:lnTo>
                <a:lnTo>
                  <a:pt x="11160735" y="11181064"/>
                </a:lnTo>
                <a:lnTo>
                  <a:pt x="111607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8218" y="-5361932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31270" y="1915132"/>
            <a:ext cx="13225460" cy="7795239"/>
          </a:xfrm>
          <a:custGeom>
            <a:avLst/>
            <a:gdLst/>
            <a:ahLst/>
            <a:cxnLst/>
            <a:rect l="l" t="t" r="r" b="b"/>
            <a:pathLst>
              <a:path w="13225460" h="7795239">
                <a:moveTo>
                  <a:pt x="0" y="0"/>
                </a:moveTo>
                <a:lnTo>
                  <a:pt x="13225460" y="0"/>
                </a:lnTo>
                <a:lnTo>
                  <a:pt x="13225460" y="7795239"/>
                </a:lnTo>
                <a:lnTo>
                  <a:pt x="0" y="779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3" r="-120" b="-1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5324" y="447675"/>
            <a:ext cx="842352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Comparative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361431" y="-6230334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1416344" y="1766867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072296" y="1710652"/>
            <a:ext cx="12143409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Research Gap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14760" y="3872827"/>
            <a:ext cx="5529240" cy="879493"/>
            <a:chOff x="0" y="0"/>
            <a:chExt cx="1456261" cy="231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6261" cy="231636"/>
            </a:xfrm>
            <a:custGeom>
              <a:avLst/>
              <a:gdLst/>
              <a:ahLst/>
              <a:cxnLst/>
              <a:rect l="l" t="t" r="r" b="b"/>
              <a:pathLst>
                <a:path w="1456261" h="231636">
                  <a:moveTo>
                    <a:pt x="71409" y="0"/>
                  </a:moveTo>
                  <a:lnTo>
                    <a:pt x="1384852" y="0"/>
                  </a:lnTo>
                  <a:cubicBezTo>
                    <a:pt x="1403790" y="0"/>
                    <a:pt x="1421954" y="7523"/>
                    <a:pt x="1435345" y="20915"/>
                  </a:cubicBezTo>
                  <a:cubicBezTo>
                    <a:pt x="1448737" y="34307"/>
                    <a:pt x="1456261" y="52470"/>
                    <a:pt x="1456261" y="71409"/>
                  </a:cubicBezTo>
                  <a:lnTo>
                    <a:pt x="1456261" y="160227"/>
                  </a:lnTo>
                  <a:cubicBezTo>
                    <a:pt x="1456261" y="179166"/>
                    <a:pt x="1448737" y="197329"/>
                    <a:pt x="1435345" y="210721"/>
                  </a:cubicBezTo>
                  <a:cubicBezTo>
                    <a:pt x="1421954" y="224113"/>
                    <a:pt x="1403790" y="231636"/>
                    <a:pt x="1384852" y="231636"/>
                  </a:cubicBezTo>
                  <a:lnTo>
                    <a:pt x="71409" y="231636"/>
                  </a:lnTo>
                  <a:cubicBezTo>
                    <a:pt x="52470" y="231636"/>
                    <a:pt x="34307" y="224113"/>
                    <a:pt x="20915" y="210721"/>
                  </a:cubicBezTo>
                  <a:cubicBezTo>
                    <a:pt x="7523" y="197329"/>
                    <a:pt x="0" y="179166"/>
                    <a:pt x="0" y="160227"/>
                  </a:cubicBezTo>
                  <a:lnTo>
                    <a:pt x="0" y="71409"/>
                  </a:lnTo>
                  <a:cubicBezTo>
                    <a:pt x="0" y="52470"/>
                    <a:pt x="7523" y="34307"/>
                    <a:pt x="20915" y="20915"/>
                  </a:cubicBezTo>
                  <a:cubicBezTo>
                    <a:pt x="34307" y="7523"/>
                    <a:pt x="52470" y="0"/>
                    <a:pt x="71409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456261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6703" y="4058573"/>
            <a:ext cx="423065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No localised legal AI for Pakistan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90639" y="3872827"/>
            <a:ext cx="5425065" cy="879493"/>
            <a:chOff x="0" y="0"/>
            <a:chExt cx="1428824" cy="2316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8824" cy="231636"/>
            </a:xfrm>
            <a:custGeom>
              <a:avLst/>
              <a:gdLst/>
              <a:ahLst/>
              <a:cxnLst/>
              <a:rect l="l" t="t" r="r" b="b"/>
              <a:pathLst>
                <a:path w="1428824" h="231636">
                  <a:moveTo>
                    <a:pt x="72780" y="0"/>
                  </a:moveTo>
                  <a:lnTo>
                    <a:pt x="1356043" y="0"/>
                  </a:lnTo>
                  <a:cubicBezTo>
                    <a:pt x="1396239" y="0"/>
                    <a:pt x="1428824" y="32585"/>
                    <a:pt x="1428824" y="72780"/>
                  </a:cubicBezTo>
                  <a:lnTo>
                    <a:pt x="1428824" y="158856"/>
                  </a:lnTo>
                  <a:cubicBezTo>
                    <a:pt x="1428824" y="199051"/>
                    <a:pt x="1396239" y="231636"/>
                    <a:pt x="1356043" y="231636"/>
                  </a:cubicBezTo>
                  <a:lnTo>
                    <a:pt x="72780" y="231636"/>
                  </a:lnTo>
                  <a:cubicBezTo>
                    <a:pt x="32585" y="231636"/>
                    <a:pt x="0" y="199051"/>
                    <a:pt x="0" y="158856"/>
                  </a:cubicBezTo>
                  <a:lnTo>
                    <a:pt x="0" y="72780"/>
                  </a:lnTo>
                  <a:cubicBezTo>
                    <a:pt x="0" y="32585"/>
                    <a:pt x="32585" y="0"/>
                    <a:pt x="72780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428824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66552" y="4068098"/>
            <a:ext cx="4473239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No Roman Urdu output in any legal tool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14760" y="5560330"/>
            <a:ext cx="5529240" cy="879493"/>
            <a:chOff x="0" y="0"/>
            <a:chExt cx="1456261" cy="2316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56261" cy="231636"/>
            </a:xfrm>
            <a:custGeom>
              <a:avLst/>
              <a:gdLst/>
              <a:ahLst/>
              <a:cxnLst/>
              <a:rect l="l" t="t" r="r" b="b"/>
              <a:pathLst>
                <a:path w="1456261" h="231636">
                  <a:moveTo>
                    <a:pt x="71409" y="0"/>
                  </a:moveTo>
                  <a:lnTo>
                    <a:pt x="1384852" y="0"/>
                  </a:lnTo>
                  <a:cubicBezTo>
                    <a:pt x="1403790" y="0"/>
                    <a:pt x="1421954" y="7523"/>
                    <a:pt x="1435345" y="20915"/>
                  </a:cubicBezTo>
                  <a:cubicBezTo>
                    <a:pt x="1448737" y="34307"/>
                    <a:pt x="1456261" y="52470"/>
                    <a:pt x="1456261" y="71409"/>
                  </a:cubicBezTo>
                  <a:lnTo>
                    <a:pt x="1456261" y="160227"/>
                  </a:lnTo>
                  <a:cubicBezTo>
                    <a:pt x="1456261" y="179166"/>
                    <a:pt x="1448737" y="197329"/>
                    <a:pt x="1435345" y="210721"/>
                  </a:cubicBezTo>
                  <a:cubicBezTo>
                    <a:pt x="1421954" y="224113"/>
                    <a:pt x="1403790" y="231636"/>
                    <a:pt x="1384852" y="231636"/>
                  </a:cubicBezTo>
                  <a:lnTo>
                    <a:pt x="71409" y="231636"/>
                  </a:lnTo>
                  <a:cubicBezTo>
                    <a:pt x="52470" y="231636"/>
                    <a:pt x="34307" y="224113"/>
                    <a:pt x="20915" y="210721"/>
                  </a:cubicBezTo>
                  <a:cubicBezTo>
                    <a:pt x="7523" y="197329"/>
                    <a:pt x="0" y="179166"/>
                    <a:pt x="0" y="160227"/>
                  </a:cubicBezTo>
                  <a:lnTo>
                    <a:pt x="0" y="71409"/>
                  </a:lnTo>
                  <a:cubicBezTo>
                    <a:pt x="0" y="52470"/>
                    <a:pt x="7523" y="34307"/>
                    <a:pt x="20915" y="20915"/>
                  </a:cubicBezTo>
                  <a:cubicBezTo>
                    <a:pt x="34307" y="7523"/>
                    <a:pt x="52470" y="0"/>
                    <a:pt x="71409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456261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66703" y="5755602"/>
            <a:ext cx="457942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OCR without legal interpretation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14582" y="5373005"/>
            <a:ext cx="5425065" cy="879493"/>
            <a:chOff x="0" y="0"/>
            <a:chExt cx="1428824" cy="2316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28824" cy="231636"/>
            </a:xfrm>
            <a:custGeom>
              <a:avLst/>
              <a:gdLst/>
              <a:ahLst/>
              <a:cxnLst/>
              <a:rect l="l" t="t" r="r" b="b"/>
              <a:pathLst>
                <a:path w="1428824" h="231636">
                  <a:moveTo>
                    <a:pt x="72780" y="0"/>
                  </a:moveTo>
                  <a:lnTo>
                    <a:pt x="1356043" y="0"/>
                  </a:lnTo>
                  <a:cubicBezTo>
                    <a:pt x="1396239" y="0"/>
                    <a:pt x="1428824" y="32585"/>
                    <a:pt x="1428824" y="72780"/>
                  </a:cubicBezTo>
                  <a:lnTo>
                    <a:pt x="1428824" y="158856"/>
                  </a:lnTo>
                  <a:cubicBezTo>
                    <a:pt x="1428824" y="199051"/>
                    <a:pt x="1396239" y="231636"/>
                    <a:pt x="1356043" y="231636"/>
                  </a:cubicBezTo>
                  <a:lnTo>
                    <a:pt x="72780" y="231636"/>
                  </a:lnTo>
                  <a:cubicBezTo>
                    <a:pt x="32585" y="231636"/>
                    <a:pt x="0" y="199051"/>
                    <a:pt x="0" y="158856"/>
                  </a:cubicBezTo>
                  <a:lnTo>
                    <a:pt x="0" y="72780"/>
                  </a:lnTo>
                  <a:cubicBezTo>
                    <a:pt x="0" y="32585"/>
                    <a:pt x="32585" y="0"/>
                    <a:pt x="72780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428824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316555" y="5569874"/>
            <a:ext cx="4621119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No Pakistani legal risk classification model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629086" y="7249449"/>
            <a:ext cx="5852559" cy="879493"/>
            <a:chOff x="0" y="0"/>
            <a:chExt cx="1541415" cy="2316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41415" cy="231636"/>
            </a:xfrm>
            <a:custGeom>
              <a:avLst/>
              <a:gdLst/>
              <a:ahLst/>
              <a:cxnLst/>
              <a:rect l="l" t="t" r="r" b="b"/>
              <a:pathLst>
                <a:path w="1541415" h="231636">
                  <a:moveTo>
                    <a:pt x="67464" y="0"/>
                  </a:moveTo>
                  <a:lnTo>
                    <a:pt x="1473951" y="0"/>
                  </a:lnTo>
                  <a:cubicBezTo>
                    <a:pt x="1491843" y="0"/>
                    <a:pt x="1509003" y="7108"/>
                    <a:pt x="1521655" y="19760"/>
                  </a:cubicBezTo>
                  <a:cubicBezTo>
                    <a:pt x="1534307" y="32412"/>
                    <a:pt x="1541415" y="49572"/>
                    <a:pt x="1541415" y="67464"/>
                  </a:cubicBezTo>
                  <a:lnTo>
                    <a:pt x="1541415" y="164172"/>
                  </a:lnTo>
                  <a:cubicBezTo>
                    <a:pt x="1541415" y="182065"/>
                    <a:pt x="1534307" y="199224"/>
                    <a:pt x="1521655" y="211876"/>
                  </a:cubicBezTo>
                  <a:cubicBezTo>
                    <a:pt x="1509003" y="224528"/>
                    <a:pt x="1491843" y="231636"/>
                    <a:pt x="1473951" y="231636"/>
                  </a:cubicBezTo>
                  <a:lnTo>
                    <a:pt x="67464" y="231636"/>
                  </a:lnTo>
                  <a:cubicBezTo>
                    <a:pt x="49572" y="231636"/>
                    <a:pt x="32412" y="224528"/>
                    <a:pt x="19760" y="211876"/>
                  </a:cubicBezTo>
                  <a:cubicBezTo>
                    <a:pt x="7108" y="199224"/>
                    <a:pt x="0" y="182065"/>
                    <a:pt x="0" y="164172"/>
                  </a:cubicBezTo>
                  <a:lnTo>
                    <a:pt x="0" y="67464"/>
                  </a:lnTo>
                  <a:cubicBezTo>
                    <a:pt x="0" y="49572"/>
                    <a:pt x="7108" y="32412"/>
                    <a:pt x="19760" y="19760"/>
                  </a:cubicBezTo>
                  <a:cubicBezTo>
                    <a:pt x="32412" y="7108"/>
                    <a:pt x="49572" y="0"/>
                    <a:pt x="67464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541415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058056" y="7476824"/>
            <a:ext cx="4538929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No plain-language explanation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39806" y="7128799"/>
            <a:ext cx="5529240" cy="879493"/>
            <a:chOff x="0" y="0"/>
            <a:chExt cx="1456261" cy="2316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56261" cy="231636"/>
            </a:xfrm>
            <a:custGeom>
              <a:avLst/>
              <a:gdLst/>
              <a:ahLst/>
              <a:cxnLst/>
              <a:rect l="l" t="t" r="r" b="b"/>
              <a:pathLst>
                <a:path w="1456261" h="231636">
                  <a:moveTo>
                    <a:pt x="71409" y="0"/>
                  </a:moveTo>
                  <a:lnTo>
                    <a:pt x="1384852" y="0"/>
                  </a:lnTo>
                  <a:cubicBezTo>
                    <a:pt x="1403790" y="0"/>
                    <a:pt x="1421954" y="7523"/>
                    <a:pt x="1435345" y="20915"/>
                  </a:cubicBezTo>
                  <a:cubicBezTo>
                    <a:pt x="1448737" y="34307"/>
                    <a:pt x="1456261" y="52470"/>
                    <a:pt x="1456261" y="71409"/>
                  </a:cubicBezTo>
                  <a:lnTo>
                    <a:pt x="1456261" y="160227"/>
                  </a:lnTo>
                  <a:cubicBezTo>
                    <a:pt x="1456261" y="179166"/>
                    <a:pt x="1448737" y="197329"/>
                    <a:pt x="1435345" y="210721"/>
                  </a:cubicBezTo>
                  <a:cubicBezTo>
                    <a:pt x="1421954" y="224113"/>
                    <a:pt x="1403790" y="231636"/>
                    <a:pt x="1384852" y="231636"/>
                  </a:cubicBezTo>
                  <a:lnTo>
                    <a:pt x="71409" y="231636"/>
                  </a:lnTo>
                  <a:cubicBezTo>
                    <a:pt x="52470" y="231636"/>
                    <a:pt x="34307" y="224113"/>
                    <a:pt x="20915" y="210721"/>
                  </a:cubicBezTo>
                  <a:cubicBezTo>
                    <a:pt x="7523" y="197329"/>
                    <a:pt x="0" y="179166"/>
                    <a:pt x="0" y="160227"/>
                  </a:cubicBezTo>
                  <a:lnTo>
                    <a:pt x="0" y="71409"/>
                  </a:lnTo>
                  <a:cubicBezTo>
                    <a:pt x="0" y="52470"/>
                    <a:pt x="7523" y="34307"/>
                    <a:pt x="20915" y="20915"/>
                  </a:cubicBezTo>
                  <a:cubicBezTo>
                    <a:pt x="34307" y="7523"/>
                    <a:pt x="52470" y="0"/>
                    <a:pt x="71409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456261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269204" y="7341949"/>
            <a:ext cx="5070443" cy="33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sz="1907">
                <a:solidFill>
                  <a:srgbClr val="FCFEFF"/>
                </a:solidFill>
                <a:latin typeface="Poppins"/>
                <a:ea typeface="Poppins"/>
                <a:cs typeface="Poppins"/>
                <a:sym typeface="Poppins"/>
              </a:rPr>
              <a:t>All legal AI tools financially inaccessible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661442"/>
            <a:ext cx="24305573" cy="15575960"/>
            <a:chOff x="0" y="0"/>
            <a:chExt cx="32407431" cy="20767946"/>
          </a:xfrm>
        </p:grpSpPr>
        <p:sp>
          <p:nvSpPr>
            <p:cNvPr id="3" name="Freeform 3"/>
            <p:cNvSpPr/>
            <p:nvPr/>
          </p:nvSpPr>
          <p:spPr>
            <a:xfrm>
              <a:off x="18134943" y="0"/>
              <a:ext cx="14272488" cy="14298485"/>
            </a:xfrm>
            <a:custGeom>
              <a:avLst/>
              <a:gdLst/>
              <a:ahLst/>
              <a:cxnLst/>
              <a:rect l="l" t="t" r="r" b="b"/>
              <a:pathLst>
                <a:path w="14272488" h="14298485">
                  <a:moveTo>
                    <a:pt x="0" y="0"/>
                  </a:moveTo>
                  <a:lnTo>
                    <a:pt x="14272488" y="0"/>
                  </a:lnTo>
                  <a:lnTo>
                    <a:pt x="14272488" y="14298485"/>
                  </a:lnTo>
                  <a:lnTo>
                    <a:pt x="0" y="1429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884" y="11739211"/>
              <a:ext cx="20209669" cy="8576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A web-based AI tool that extracts, analyses, and explains Urdu legal documents in plain Roman Urdu.</a:t>
              </a:r>
            </a:p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endParaRPr lang="en-US" sz="27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Workflow: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Upload Urdu legal document (PDF, image, or scan)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OCR extracts Urdu text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NLP detects risky clauses and assigns risk levels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Results displayed in Roman Urdu with plain-language explanations</a:t>
              </a:r>
            </a:p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Outputs: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 err="1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Colour</a:t>
              </a: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-coded Urdu text with risk highlights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Full Roman Urdu transliteration of the document</a:t>
              </a:r>
            </a:p>
            <a:p>
              <a:pPr marL="604518" lvl="1" indent="-302259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Risk report with plain-language explanation</a:t>
              </a:r>
            </a:p>
            <a:p>
              <a:pPr algn="l">
                <a:lnSpc>
                  <a:spcPts val="3919"/>
                </a:lnSpc>
              </a:pPr>
              <a:endParaRPr lang="en-US" sz="2799" u="none" strike="noStrike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" name="Freeform 5"/>
            <p:cNvSpPr/>
            <p:nvPr/>
          </p:nvSpPr>
          <p:spPr>
            <a:xfrm>
              <a:off x="16523182" y="14694700"/>
              <a:ext cx="4957977" cy="6073246"/>
            </a:xfrm>
            <a:custGeom>
              <a:avLst/>
              <a:gdLst/>
              <a:ahLst/>
              <a:cxnLst/>
              <a:rect l="l" t="t" r="r" b="b"/>
              <a:pathLst>
                <a:path w="4957977" h="6073246">
                  <a:moveTo>
                    <a:pt x="0" y="0"/>
                  </a:moveTo>
                  <a:lnTo>
                    <a:pt x="4957977" y="0"/>
                  </a:lnTo>
                  <a:lnTo>
                    <a:pt x="4957977" y="6073246"/>
                  </a:lnTo>
                  <a:lnTo>
                    <a:pt x="0" y="6073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72168"/>
              <a:ext cx="16744092" cy="1257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980"/>
                </a:lnSpc>
                <a:spcBef>
                  <a:spcPct val="0"/>
                </a:spcBef>
              </a:pPr>
              <a:r>
                <a:rPr lang="en-US" sz="5700" b="1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Pr</a:t>
              </a:r>
              <a:r>
                <a:rPr lang="en-US" sz="5700" b="1" u="none" strike="noStrike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oposed Solution – Contract.AI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4595" y="0"/>
            <a:ext cx="26021440" cy="11087601"/>
            <a:chOff x="0" y="0"/>
            <a:chExt cx="34695254" cy="14783467"/>
          </a:xfrm>
        </p:grpSpPr>
        <p:grpSp>
          <p:nvGrpSpPr>
            <p:cNvPr id="3" name="Group 3"/>
            <p:cNvGrpSpPr/>
            <p:nvPr/>
          </p:nvGrpSpPr>
          <p:grpSpPr>
            <a:xfrm>
              <a:off x="2106997" y="2826038"/>
              <a:ext cx="6130729" cy="1545956"/>
              <a:chOff x="0" y="0"/>
              <a:chExt cx="1211008" cy="30537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690248" y="3282574"/>
              <a:ext cx="494760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Document Upload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8685" y="4791476"/>
              <a:ext cx="6130729" cy="2463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2" lvl="1" indent="-226696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Upload PDF, PNG, JPG, JPEG, DOCX files</a:t>
              </a:r>
            </a:p>
            <a:p>
              <a:pPr marL="453392" lvl="1" indent="-226696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Drag-and-drop or file browser selection</a:t>
              </a: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endParaRPr lang="en-US" sz="21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98685" y="10449085"/>
              <a:ext cx="6130729" cy="340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67033" lvl="1" indent="-183516" algn="just">
                <a:lnSpc>
                  <a:spcPts val="2380"/>
                </a:lnSpc>
                <a:buFont typeface="Arial"/>
                <a:buChar char="•"/>
              </a:pP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Detect penalty clauses (</a:t>
              </a:r>
              <a:r>
                <a:rPr lang="en-US" sz="1700" dirty="0" err="1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Jurmana</a:t>
              </a: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  <a:p>
              <a:pPr marL="367033" lvl="1" indent="-183516" algn="just">
                <a:lnSpc>
                  <a:spcPts val="2380"/>
                </a:lnSpc>
                <a:buFont typeface="Arial"/>
                <a:buChar char="•"/>
              </a:pP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Detect financial amounts (</a:t>
              </a:r>
              <a:r>
                <a:rPr lang="en-US" sz="1700" dirty="0" err="1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Raqam</a:t>
              </a: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  <a:p>
              <a:pPr marL="367033" lvl="1" indent="-183516" algn="just">
                <a:lnSpc>
                  <a:spcPts val="2380"/>
                </a:lnSpc>
                <a:buFont typeface="Arial"/>
                <a:buChar char="•"/>
              </a:pP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Detect termination conditions (</a:t>
              </a:r>
              <a:r>
                <a:rPr lang="en-US" sz="1700" dirty="0" err="1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Fori</a:t>
              </a: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 Khatam)</a:t>
              </a:r>
            </a:p>
            <a:p>
              <a:pPr marL="367033" lvl="1" indent="-183516" algn="just">
                <a:lnSpc>
                  <a:spcPts val="2380"/>
                </a:lnSpc>
                <a:buFont typeface="Arial"/>
                <a:buChar char="•"/>
              </a:pP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Detect jurisdictional references (Adalat)</a:t>
              </a:r>
            </a:p>
            <a:p>
              <a:pPr marL="367033" lvl="1" indent="-183516" algn="just">
                <a:lnSpc>
                  <a:spcPts val="2380"/>
                </a:lnSpc>
                <a:buFont typeface="Arial"/>
                <a:buChar char="•"/>
              </a:pPr>
              <a:r>
                <a:rPr lang="en-US" sz="17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Assign risk level — High Risk, </a:t>
              </a:r>
              <a:r>
                <a:rPr lang="en-US" sz="1700" dirty="0" err="1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etc</a:t>
              </a:r>
              <a:endParaRPr lang="en-US" sz="17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129548" lvl="1" indent="-64774" algn="just">
                <a:lnSpc>
                  <a:spcPts val="840"/>
                </a:lnSpc>
                <a:spcBef>
                  <a:spcPct val="0"/>
                </a:spcBef>
                <a:buFont typeface="Arial"/>
                <a:buChar char="•"/>
              </a:pPr>
              <a:endParaRPr lang="en-US" sz="17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just">
                <a:lnSpc>
                  <a:spcPts val="2380"/>
                </a:lnSpc>
                <a:spcBef>
                  <a:spcPct val="0"/>
                </a:spcBef>
              </a:pPr>
              <a:endParaRPr lang="en-US" sz="17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2098685" y="8483646"/>
              <a:ext cx="6130729" cy="1545956"/>
              <a:chOff x="0" y="0"/>
              <a:chExt cx="1211008" cy="30537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970883" y="8940182"/>
              <a:ext cx="438633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Detection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97036" y="4791476"/>
              <a:ext cx="6130729" cy="3341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OCR text extraction from Urdu documents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NLP-based risk term detection and classification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Urdu to Roman Urdu transliteration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Plain-language explanation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Loading indicator during processing</a:t>
              </a:r>
            </a:p>
            <a:p>
              <a:pPr algn="just">
                <a:lnSpc>
                  <a:spcPts val="1960"/>
                </a:lnSpc>
                <a:spcBef>
                  <a:spcPct val="0"/>
                </a:spcBef>
              </a:pPr>
              <a:endParaRPr lang="en-US" sz="18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1301802" y="2826038"/>
              <a:ext cx="6130729" cy="1545956"/>
              <a:chOff x="0" y="0"/>
              <a:chExt cx="1211008" cy="30537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2173999" y="3282574"/>
              <a:ext cx="438633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Analysis Pipeline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59206" y="10741184"/>
              <a:ext cx="6130729" cy="2929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Colour-coded Urdu text with risk highlights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Roman Urdu transliteration view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Risk report with explanations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Risk count summary bar</a:t>
              </a:r>
            </a:p>
            <a:p>
              <a:pPr marL="388623" lvl="1" indent="-194312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Legal disclaimer permanently visible</a:t>
              </a:r>
            </a:p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endParaRPr lang="en-US" sz="180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563972" y="8775746"/>
              <a:ext cx="6130729" cy="1545956"/>
              <a:chOff x="0" y="0"/>
              <a:chExt cx="1211008" cy="30537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2436170" y="9232282"/>
              <a:ext cx="438633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Results Display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9052831" y="0"/>
              <a:ext cx="4698375" cy="2826038"/>
            </a:xfrm>
            <a:custGeom>
              <a:avLst/>
              <a:gdLst/>
              <a:ahLst/>
              <a:cxnLst/>
              <a:rect l="l" t="t" r="r" b="b"/>
              <a:pathLst>
                <a:path w="4698375" h="2826038">
                  <a:moveTo>
                    <a:pt x="0" y="0"/>
                  </a:moveTo>
                  <a:lnTo>
                    <a:pt x="4698375" y="0"/>
                  </a:lnTo>
                  <a:lnTo>
                    <a:pt x="4698375" y="2826038"/>
                  </a:lnTo>
                  <a:lnTo>
                    <a:pt x="0" y="282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606713"/>
              <a:ext cx="12535862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Functi</a:t>
              </a:r>
              <a:r>
                <a:rPr lang="en-US" sz="6000" b="1" u="none" strike="noStrike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onal Requirements</a:t>
              </a:r>
            </a:p>
          </p:txBody>
        </p:sp>
        <p:sp>
          <p:nvSpPr>
            <p:cNvPr id="25" name="Freeform 25"/>
            <p:cNvSpPr/>
            <p:nvPr/>
          </p:nvSpPr>
          <p:spPr>
            <a:xfrm flipH="1">
              <a:off x="20422766" y="484982"/>
              <a:ext cx="14272488" cy="14298485"/>
            </a:xfrm>
            <a:custGeom>
              <a:avLst/>
              <a:gdLst/>
              <a:ahLst/>
              <a:cxnLst/>
              <a:rect l="l" t="t" r="r" b="b"/>
              <a:pathLst>
                <a:path w="14272488" h="14298485">
                  <a:moveTo>
                    <a:pt x="14272488" y="0"/>
                  </a:moveTo>
                  <a:lnTo>
                    <a:pt x="0" y="0"/>
                  </a:lnTo>
                  <a:lnTo>
                    <a:pt x="0" y="14298485"/>
                  </a:lnTo>
                  <a:lnTo>
                    <a:pt x="14272488" y="14298485"/>
                  </a:lnTo>
                  <a:lnTo>
                    <a:pt x="14272488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7572" y="478631"/>
            <a:ext cx="21494835" cy="12133695"/>
            <a:chOff x="0" y="-123825"/>
            <a:chExt cx="28659780" cy="16178260"/>
          </a:xfrm>
        </p:grpSpPr>
        <p:sp>
          <p:nvSpPr>
            <p:cNvPr id="3" name="TextBox 3"/>
            <p:cNvSpPr txBox="1"/>
            <p:nvPr/>
          </p:nvSpPr>
          <p:spPr>
            <a:xfrm>
              <a:off x="0" y="-123825"/>
              <a:ext cx="19756253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N</a:t>
              </a:r>
              <a:r>
                <a:rPr lang="en-US" sz="6000" b="1" u="none" strike="noStrike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on-Functional Requirements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95480" y="2496984"/>
              <a:ext cx="9537745" cy="7399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Performance: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Results returned within 15 seconds for documents up to 5 pages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Scalability: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Supports minimum 20 concurrent users without performance degradation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Security: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TLS 1.2 or higher for all data transmission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Uploaded files auto-deleted within 1 hour of processing</a:t>
              </a:r>
            </a:p>
            <a:p>
              <a:pPr algn="just">
                <a:lnSpc>
                  <a:spcPts val="4339"/>
                </a:lnSpc>
              </a:pPr>
              <a:endPara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just">
                <a:lnSpc>
                  <a:spcPts val="4339"/>
                </a:lnSpc>
                <a:spcBef>
                  <a:spcPct val="0"/>
                </a:spcBef>
              </a:pPr>
              <a:endPara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810224" y="2496984"/>
              <a:ext cx="7892059" cy="656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Reliability: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rror messages shown without exposing internal details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Compatibility: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Chrome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Safari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Firefox</a:t>
              </a:r>
            </a:p>
            <a:p>
              <a:pPr marL="539749" lvl="1" indent="-269875" algn="just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Edge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22588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Privacy: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No permanent document storage — anonymous session only</a:t>
              </a:r>
            </a:p>
          </p:txBody>
        </p:sp>
        <p:sp>
          <p:nvSpPr>
            <p:cNvPr id="6" name="Freeform 6"/>
            <p:cNvSpPr/>
            <p:nvPr/>
          </p:nvSpPr>
          <p:spPr>
            <a:xfrm flipH="1">
              <a:off x="14387292" y="1755950"/>
              <a:ext cx="14272488" cy="14298485"/>
            </a:xfrm>
            <a:custGeom>
              <a:avLst/>
              <a:gdLst/>
              <a:ahLst/>
              <a:cxnLst/>
              <a:rect l="l" t="t" r="r" b="b"/>
              <a:pathLst>
                <a:path w="14272488" h="14298485">
                  <a:moveTo>
                    <a:pt x="14272488" y="0"/>
                  </a:moveTo>
                  <a:lnTo>
                    <a:pt x="0" y="0"/>
                  </a:lnTo>
                  <a:lnTo>
                    <a:pt x="0" y="14298485"/>
                  </a:lnTo>
                  <a:lnTo>
                    <a:pt x="14272488" y="14298485"/>
                  </a:lnTo>
                  <a:lnTo>
                    <a:pt x="14272488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767" y="478631"/>
            <a:ext cx="20090609" cy="12954238"/>
            <a:chOff x="0" y="-123825"/>
            <a:chExt cx="26787479" cy="17272317"/>
          </a:xfrm>
        </p:grpSpPr>
        <p:grpSp>
          <p:nvGrpSpPr>
            <p:cNvPr id="3" name="Group 3"/>
            <p:cNvGrpSpPr/>
            <p:nvPr/>
          </p:nvGrpSpPr>
          <p:grpSpPr>
            <a:xfrm>
              <a:off x="1376263" y="2077029"/>
              <a:ext cx="6130729" cy="1545956"/>
              <a:chOff x="0" y="0"/>
              <a:chExt cx="1211008" cy="30537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959514" y="2524040"/>
              <a:ext cx="4947603" cy="663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Constraints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67951" y="4032943"/>
              <a:ext cx="6130729" cy="6338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OCR supports printed Urdu text only — no handwritten content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Maximum file size: 10MB per upload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Active internet connection required for processing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NLP accuracy dependent on OCR output quality</a:t>
              </a:r>
            </a:p>
            <a:p>
              <a:pPr algn="l">
                <a:lnSpc>
                  <a:spcPts val="3220"/>
                </a:lnSpc>
                <a:spcBef>
                  <a:spcPct val="0"/>
                </a:spcBef>
              </a:pPr>
              <a:endParaRPr lang="en-US" sz="24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endParaRPr lang="en-US" sz="24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675460" y="2077029"/>
              <a:ext cx="6130729" cy="1545956"/>
              <a:chOff x="0" y="0"/>
              <a:chExt cx="1211008" cy="30537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11008" cy="305374"/>
              </a:xfrm>
              <a:custGeom>
                <a:avLst/>
                <a:gdLst/>
                <a:ahLst/>
                <a:cxnLst/>
                <a:rect l="l" t="t" r="r" b="b"/>
                <a:pathLst>
                  <a:path w="1211008" h="305374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2588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5258712" y="2524040"/>
              <a:ext cx="4947603" cy="663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FCFE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Assumptions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667150" y="4042467"/>
              <a:ext cx="6130729" cy="6341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User has a browser (Chrome, Firefox, Safari, or Edge)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User is comfortable reading Roman Urdu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Uploaded documents are Pakistani legal documents in Urdu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22588D"/>
                  </a:solidFill>
                  <a:latin typeface="Poppins"/>
                  <a:ea typeface="Poppins"/>
                  <a:cs typeface="Poppins"/>
                  <a:sym typeface="Poppins"/>
                </a:rPr>
                <a:t>User has obtained documents legally and with appropriate permissions</a:t>
              </a:r>
            </a:p>
            <a:p>
              <a:pPr algn="just">
                <a:lnSpc>
                  <a:spcPts val="3080"/>
                </a:lnSpc>
                <a:spcBef>
                  <a:spcPct val="0"/>
                </a:spcBef>
              </a:pPr>
              <a:endParaRPr lang="en-US" sz="22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just">
                <a:lnSpc>
                  <a:spcPts val="3080"/>
                </a:lnSpc>
                <a:spcBef>
                  <a:spcPct val="0"/>
                </a:spcBef>
              </a:pPr>
              <a:endParaRPr lang="en-US" sz="2200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4308470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C</a:t>
              </a:r>
              <a:r>
                <a:rPr lang="en-US" sz="6000" b="1" u="none" strike="noStrike">
                  <a:solidFill>
                    <a:srgbClr val="22588D"/>
                  </a:solidFill>
                  <a:latin typeface="Museo Moderno Bold"/>
                  <a:ea typeface="Museo Moderno Bold"/>
                  <a:cs typeface="Museo Moderno Bold"/>
                  <a:sym typeface="Museo Moderno Bold"/>
                </a:rPr>
                <a:t>onstraints &amp; Assumptions</a:t>
              </a:r>
            </a:p>
          </p:txBody>
        </p:sp>
        <p:sp>
          <p:nvSpPr>
            <p:cNvPr id="14" name="Freeform 14"/>
            <p:cNvSpPr/>
            <p:nvPr/>
          </p:nvSpPr>
          <p:spPr>
            <a:xfrm flipH="1">
              <a:off x="12514991" y="2850007"/>
              <a:ext cx="14272488" cy="14298485"/>
            </a:xfrm>
            <a:custGeom>
              <a:avLst/>
              <a:gdLst/>
              <a:ahLst/>
              <a:cxnLst/>
              <a:rect l="l" t="t" r="r" b="b"/>
              <a:pathLst>
                <a:path w="14272488" h="14298485">
                  <a:moveTo>
                    <a:pt x="14272488" y="0"/>
                  </a:moveTo>
                  <a:lnTo>
                    <a:pt x="0" y="0"/>
                  </a:lnTo>
                  <a:lnTo>
                    <a:pt x="0" y="14298485"/>
                  </a:lnTo>
                  <a:lnTo>
                    <a:pt x="14272488" y="14298485"/>
                  </a:lnTo>
                  <a:lnTo>
                    <a:pt x="14272488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545" y="2938563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3"/>
                </a:lnTo>
                <a:lnTo>
                  <a:pt x="0" y="10723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13321" y="1811655"/>
            <a:ext cx="7392109" cy="6663690"/>
          </a:xfrm>
          <a:custGeom>
            <a:avLst/>
            <a:gdLst/>
            <a:ahLst/>
            <a:cxnLst/>
            <a:rect l="l" t="t" r="r" b="b"/>
            <a:pathLst>
              <a:path w="7392109" h="6663690">
                <a:moveTo>
                  <a:pt x="0" y="0"/>
                </a:moveTo>
                <a:lnTo>
                  <a:pt x="7392109" y="0"/>
                </a:lnTo>
                <a:lnTo>
                  <a:pt x="7392109" y="6663690"/>
                </a:lnTo>
                <a:lnTo>
                  <a:pt x="0" y="666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351566" y="251882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Sys</a:t>
            </a:r>
            <a:r>
              <a:rPr lang="en-US" sz="6000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tem Level Use Case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73275"/>
            <a:ext cx="7752755" cy="415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Main User Activities:</a:t>
            </a: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Upload Urdu legal document</a:t>
            </a: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Analyse document for risks</a:t>
            </a: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View Roman Urdu transliteration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Read risk report and explanations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Actor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End User (non-legally trained Pakistani citizen)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Secondary Actors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OCR Engine, NLP Module, Transliteration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12893" y="1290107"/>
            <a:ext cx="6690355" cy="7831378"/>
          </a:xfrm>
          <a:custGeom>
            <a:avLst/>
            <a:gdLst/>
            <a:ahLst/>
            <a:cxnLst/>
            <a:rect l="l" t="t" r="r" b="b"/>
            <a:pathLst>
              <a:path w="6690355" h="7831378">
                <a:moveTo>
                  <a:pt x="0" y="0"/>
                </a:moveTo>
                <a:lnTo>
                  <a:pt x="6690355" y="0"/>
                </a:lnTo>
                <a:lnTo>
                  <a:pt x="6690355" y="7831378"/>
                </a:lnTo>
                <a:lnTo>
                  <a:pt x="0" y="783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4" t="-4064" r="-3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679878" y="251882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Archi</a:t>
            </a:r>
            <a:r>
              <a:rPr lang="en-US" sz="6000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tecture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2079" y="1822450"/>
            <a:ext cx="7123212" cy="716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Layer: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React.js</a:t>
            </a:r>
            <a:endParaRPr lang="en-US" sz="2499" dirty="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Firebase Hosting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Layer: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Google Cloud Functions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Python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Google Cloud Vision API (OCR)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Hugging Face Transformers (NLP)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Data Layer: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Firebase </a:t>
            </a:r>
            <a:r>
              <a:rPr lang="en-US" sz="2499" dirty="0" err="1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Firestore</a:t>
            </a:r>
            <a:endParaRPr lang="en-US" sz="2499" dirty="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Firebase Storage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Firebase Anonymous Auth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Data Flow: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User → React Frontend → Cloud Functions →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2588D"/>
                </a:solidFill>
                <a:latin typeface="Poppins"/>
                <a:ea typeface="Poppins"/>
                <a:cs typeface="Poppins"/>
                <a:sym typeface="Poppins"/>
              </a:rPr>
              <a:t>OCR + NLP Pipeline → Firebase → Results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2258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9095" y="278884"/>
            <a:ext cx="10892771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ERD Diagram</a:t>
            </a:r>
          </a:p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endParaRPr lang="en-US" sz="6000" b="1">
              <a:solidFill>
                <a:srgbClr val="22588D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5609364" y="680083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532625" y="1587863"/>
            <a:ext cx="4611375" cy="8200814"/>
          </a:xfrm>
          <a:custGeom>
            <a:avLst/>
            <a:gdLst/>
            <a:ahLst/>
            <a:cxnLst/>
            <a:rect l="l" t="t" r="r" b="b"/>
            <a:pathLst>
              <a:path w="4611375" h="8200814">
                <a:moveTo>
                  <a:pt x="0" y="0"/>
                </a:moveTo>
                <a:lnTo>
                  <a:pt x="4611375" y="0"/>
                </a:lnTo>
                <a:lnTo>
                  <a:pt x="4611375" y="8200814"/>
                </a:lnTo>
                <a:lnTo>
                  <a:pt x="0" y="8200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6" r="-3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059038" y="680083"/>
            <a:ext cx="3999473" cy="9108594"/>
          </a:xfrm>
          <a:custGeom>
            <a:avLst/>
            <a:gdLst/>
            <a:ahLst/>
            <a:cxnLst/>
            <a:rect l="l" t="t" r="r" b="b"/>
            <a:pathLst>
              <a:path w="3999473" h="9108594">
                <a:moveTo>
                  <a:pt x="0" y="0"/>
                </a:moveTo>
                <a:lnTo>
                  <a:pt x="3999473" y="0"/>
                </a:lnTo>
                <a:lnTo>
                  <a:pt x="3999473" y="9108594"/>
                </a:lnTo>
                <a:lnTo>
                  <a:pt x="0" y="9108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14" r="-461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198788" y="832907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49158" y="1635291"/>
            <a:ext cx="14278120" cy="7623009"/>
          </a:xfrm>
          <a:custGeom>
            <a:avLst/>
            <a:gdLst/>
            <a:ahLst/>
            <a:cxnLst/>
            <a:rect l="l" t="t" r="r" b="b"/>
            <a:pathLst>
              <a:path w="14278120" h="7623009">
                <a:moveTo>
                  <a:pt x="0" y="0"/>
                </a:moveTo>
                <a:lnTo>
                  <a:pt x="14278120" y="0"/>
                </a:lnTo>
                <a:lnTo>
                  <a:pt x="14278120" y="7623009"/>
                </a:lnTo>
                <a:lnTo>
                  <a:pt x="0" y="762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" t="-276" b="-2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1809770" y="251882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</a:t>
            </a:r>
            <a:r>
              <a:rPr lang="en-US" sz="6000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lass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424662" y="447675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DFD-Leve</a:t>
            </a:r>
            <a:r>
              <a:rPr lang="en-US" sz="6000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l-1 </a:t>
            </a:r>
          </a:p>
        </p:txBody>
      </p:sp>
      <p:sp>
        <p:nvSpPr>
          <p:cNvPr id="3" name="Freeform 3"/>
          <p:cNvSpPr/>
          <p:nvPr/>
        </p:nvSpPr>
        <p:spPr>
          <a:xfrm>
            <a:off x="-5352183" y="832907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827595" y="1485900"/>
            <a:ext cx="10578409" cy="8229600"/>
          </a:xfrm>
          <a:custGeom>
            <a:avLst/>
            <a:gdLst/>
            <a:ahLst/>
            <a:cxnLst/>
            <a:rect l="l" t="t" r="r" b="b"/>
            <a:pathLst>
              <a:path w="10578409" h="8229600">
                <a:moveTo>
                  <a:pt x="0" y="0"/>
                </a:moveTo>
                <a:lnTo>
                  <a:pt x="10578408" y="0"/>
                </a:lnTo>
                <a:lnTo>
                  <a:pt x="105784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1" r="-37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8405" y="1028700"/>
            <a:ext cx="12310574" cy="8229600"/>
          </a:xfrm>
          <a:custGeom>
            <a:avLst/>
            <a:gdLst/>
            <a:ahLst/>
            <a:cxnLst/>
            <a:rect l="l" t="t" r="r" b="b"/>
            <a:pathLst>
              <a:path w="12310574" h="8229600">
                <a:moveTo>
                  <a:pt x="0" y="0"/>
                </a:moveTo>
                <a:lnTo>
                  <a:pt x="12310574" y="0"/>
                </a:lnTo>
                <a:lnTo>
                  <a:pt x="123105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1" b="-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693" y="-142875"/>
            <a:ext cx="8324999" cy="860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3"/>
              </a:lnSpc>
              <a:spcBef>
                <a:spcPct val="0"/>
              </a:spcBef>
            </a:pPr>
            <a:r>
              <a:rPr lang="en-US" sz="4752" b="1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Environment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1841571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456570" y="0"/>
            <a:ext cx="2575856" cy="2313587"/>
          </a:xfrm>
          <a:custGeom>
            <a:avLst/>
            <a:gdLst/>
            <a:ahLst/>
            <a:cxnLst/>
            <a:rect l="l" t="t" r="r" b="b"/>
            <a:pathLst>
              <a:path w="2575856" h="2313587">
                <a:moveTo>
                  <a:pt x="0" y="0"/>
                </a:moveTo>
                <a:lnTo>
                  <a:pt x="2575856" y="0"/>
                </a:lnTo>
                <a:lnTo>
                  <a:pt x="2575856" y="2313587"/>
                </a:lnTo>
                <a:lnTo>
                  <a:pt x="0" y="231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593789" y="1841571"/>
            <a:ext cx="11100422" cy="7061950"/>
          </a:xfrm>
          <a:custGeom>
            <a:avLst/>
            <a:gdLst/>
            <a:ahLst/>
            <a:cxnLst/>
            <a:rect l="l" t="t" r="r" b="b"/>
            <a:pathLst>
              <a:path w="11100422" h="7061950">
                <a:moveTo>
                  <a:pt x="0" y="0"/>
                </a:moveTo>
                <a:lnTo>
                  <a:pt x="11100422" y="0"/>
                </a:lnTo>
                <a:lnTo>
                  <a:pt x="11100422" y="7061950"/>
                </a:lnTo>
                <a:lnTo>
                  <a:pt x="0" y="7061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7" r="-1440" b="-10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13341" y="447675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Techno</a:t>
            </a:r>
            <a:r>
              <a:rPr lang="en-US" sz="6000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logy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00161" y="32709"/>
            <a:ext cx="10892771" cy="136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Landing page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8886819" y="2143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2107553" y="-2896364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10723864"/>
                </a:moveTo>
                <a:lnTo>
                  <a:pt x="10704366" y="10723864"/>
                </a:lnTo>
                <a:lnTo>
                  <a:pt x="10704366" y="0"/>
                </a:lnTo>
                <a:lnTo>
                  <a:pt x="0" y="0"/>
                </a:lnTo>
                <a:lnTo>
                  <a:pt x="0" y="107238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347374" y="1734498"/>
            <a:ext cx="13871277" cy="7523802"/>
          </a:xfrm>
          <a:custGeom>
            <a:avLst/>
            <a:gdLst/>
            <a:ahLst/>
            <a:cxnLst/>
            <a:rect l="l" t="t" r="r" b="b"/>
            <a:pathLst>
              <a:path w="13871277" h="7523802">
                <a:moveTo>
                  <a:pt x="0" y="0"/>
                </a:moveTo>
                <a:lnTo>
                  <a:pt x="13871276" y="0"/>
                </a:lnTo>
                <a:lnTo>
                  <a:pt x="13871276" y="7523802"/>
                </a:lnTo>
                <a:lnTo>
                  <a:pt x="0" y="7523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80" t="-286" b="-2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3831" y="195692"/>
            <a:ext cx="11901978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  <a:spcBef>
                <a:spcPct val="0"/>
              </a:spcBef>
            </a:pPr>
            <a:r>
              <a:rPr lang="en-US" sz="66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Working of Landing page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004434" y="637761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44473" y="-239086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10723864"/>
                </a:moveTo>
                <a:lnTo>
                  <a:pt x="10704366" y="10723864"/>
                </a:lnTo>
                <a:lnTo>
                  <a:pt x="10704366" y="0"/>
                </a:lnTo>
                <a:lnTo>
                  <a:pt x="0" y="0"/>
                </a:lnTo>
                <a:lnTo>
                  <a:pt x="0" y="107238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065939" y="1576202"/>
            <a:ext cx="11592743" cy="7934848"/>
          </a:xfrm>
          <a:custGeom>
            <a:avLst/>
            <a:gdLst/>
            <a:ahLst/>
            <a:cxnLst/>
            <a:rect l="l" t="t" r="r" b="b"/>
            <a:pathLst>
              <a:path w="11592743" h="7934848">
                <a:moveTo>
                  <a:pt x="0" y="0"/>
                </a:moveTo>
                <a:lnTo>
                  <a:pt x="11592743" y="0"/>
                </a:lnTo>
                <a:lnTo>
                  <a:pt x="11592743" y="7934847"/>
                </a:lnTo>
                <a:lnTo>
                  <a:pt x="0" y="793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7" t="-1649" r="-130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4714" y="1568535"/>
            <a:ext cx="14378571" cy="7149930"/>
          </a:xfrm>
          <a:custGeom>
            <a:avLst/>
            <a:gdLst/>
            <a:ahLst/>
            <a:cxnLst/>
            <a:rect l="l" t="t" r="r" b="b"/>
            <a:pathLst>
              <a:path w="14378571" h="7149930">
                <a:moveTo>
                  <a:pt x="0" y="0"/>
                </a:moveTo>
                <a:lnTo>
                  <a:pt x="14378572" y="0"/>
                </a:lnTo>
                <a:lnTo>
                  <a:pt x="14378572" y="7149930"/>
                </a:lnTo>
                <a:lnTo>
                  <a:pt x="0" y="7149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5" t="-82" r="-162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403749" y="10772"/>
            <a:ext cx="11901978" cy="127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99"/>
              </a:lnSpc>
              <a:spcBef>
                <a:spcPct val="0"/>
              </a:spcBef>
            </a:pPr>
            <a:r>
              <a:rPr lang="en-US" sz="7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Upload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524261" y="0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44473" y="-239086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10723864"/>
                </a:moveTo>
                <a:lnTo>
                  <a:pt x="10704366" y="10723864"/>
                </a:lnTo>
                <a:lnTo>
                  <a:pt x="10704366" y="0"/>
                </a:lnTo>
                <a:lnTo>
                  <a:pt x="0" y="0"/>
                </a:lnTo>
                <a:lnTo>
                  <a:pt x="0" y="107238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513729" y="1287123"/>
            <a:ext cx="11260542" cy="7971177"/>
          </a:xfrm>
          <a:custGeom>
            <a:avLst/>
            <a:gdLst/>
            <a:ahLst/>
            <a:cxnLst/>
            <a:rect l="l" t="t" r="r" b="b"/>
            <a:pathLst>
              <a:path w="11260542" h="7971177">
                <a:moveTo>
                  <a:pt x="0" y="0"/>
                </a:moveTo>
                <a:lnTo>
                  <a:pt x="11260542" y="0"/>
                </a:lnTo>
                <a:lnTo>
                  <a:pt x="11260542" y="7971177"/>
                </a:lnTo>
                <a:lnTo>
                  <a:pt x="0" y="7971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18" b="-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060897" y="64815"/>
            <a:ext cx="11901978" cy="26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Result</a:t>
            </a:r>
          </a:p>
          <a:p>
            <a:pPr marL="0" lvl="0" indent="0" algn="ctr">
              <a:lnSpc>
                <a:spcPts val="10499"/>
              </a:lnSpc>
              <a:spcBef>
                <a:spcPct val="0"/>
              </a:spcBef>
            </a:pPr>
            <a:endParaRPr lang="en-US" sz="7499" b="1">
              <a:solidFill>
                <a:srgbClr val="22588D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11524261" y="0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44473" y="-239086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10723864"/>
                </a:moveTo>
                <a:lnTo>
                  <a:pt x="10704366" y="10723864"/>
                </a:lnTo>
                <a:lnTo>
                  <a:pt x="10704366" y="0"/>
                </a:lnTo>
                <a:lnTo>
                  <a:pt x="0" y="0"/>
                </a:lnTo>
                <a:lnTo>
                  <a:pt x="0" y="107238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553905" y="1677669"/>
            <a:ext cx="13180191" cy="7580631"/>
          </a:xfrm>
          <a:custGeom>
            <a:avLst/>
            <a:gdLst/>
            <a:ahLst/>
            <a:cxnLst/>
            <a:rect l="l" t="t" r="r" b="b"/>
            <a:pathLst>
              <a:path w="13180191" h="7580631">
                <a:moveTo>
                  <a:pt x="0" y="0"/>
                </a:moveTo>
                <a:lnTo>
                  <a:pt x="13180190" y="0"/>
                </a:lnTo>
                <a:lnTo>
                  <a:pt x="13180190" y="7580631"/>
                </a:lnTo>
                <a:lnTo>
                  <a:pt x="0" y="7580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424662" y="447675"/>
            <a:ext cx="108927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5215" y="1962072"/>
            <a:ext cx="952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28700" y="1438275"/>
            <a:ext cx="16230600" cy="845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[1] T. Rakoff, "Contracts of adhesion: An essay in reconstruction," Harvard Law Review, vol.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96, no. 6, pp. 1173–1284, Apr. 1983.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[2] O. Becher and L. Unger-Aviram, "The law of standard form contracts: Misguided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regulation," European Journal of Law and Economics, vol. 30, no. 2, pp. 115–134, Oct. 2010.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[3] LawGeex. (2018). "Comparing the performance of artificial intelligence to human lawyers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 the review of standard business contracts"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https://www.lawgeex.com/AIvsLawyer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[4] Kira Systems. (2022). "Machine learning contract review"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https://kirasystems.com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[5] S. Šarčević, New Approach to Legal Translation. The Hague: Kluwer Law International,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2012.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[6] S. Husain, "Challenges in Urdu text tokenization and segmentation," in Proc. Workshop on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Computational Approaches to Arabic Script-based Languages, Stanford, CA, 2009, pp. 40–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47.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[7] S. Naz, A. I. Umar, R. Ahmad, S. B. Ahmed, S. H. Shirazi, and M. I. Razzak, "Urdu Nastaliq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recognition using convolutional-recursive deep learning," Neurocomputing, vol. 243, pp. 80–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87, Jun. 2017.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[8] M. Lippi, P. Palka, G. Contissa, F. Lagioia, H. W. Micklitz, G. Sartor, and P. Torroni,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"CLAUDETTE: An automated detector of potentially unfair clauses in online terms of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service," Artificial Intelligence and Law, vol. 27, no. 2, pp. 117–139, Jun. 2019.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[9] I. Chalkidis, M. Fergadiotis, P. Malakasiotis, N. Aletras, and I. Androutsopoulos, "LEGAL-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BERT: The muppets straight out of law school," in Proc. Findings of the Association for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Computational Linguistics: EMNLP 2020, Online, Nov. 2020, pp. 2898–2904.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22588D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7597" y="539750"/>
            <a:ext cx="11492805" cy="915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[10] A. Rafae, A. Nawab, M. Wyner, and A. Athar, "An unsupervised method for discovering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lexical variations in Roman Urdu informal text," in Proc. Workshop on Noisy User-generated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Text, Beijing, China, Jul. 2015, pp. 40–47.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[11] Meta AI. (2023). "React: A JavaScript library for building user interfaces"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https://react.dev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[12] Remix Software. (2024). "React Router — Declarative routing for React"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https://reactrouter.com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[13] Formspree. (2024). "Formspree — HTML form backend service"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https://formspree.io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[14] OpenJS Foundation. (2024). "Node.js — JavaScript runtime environment"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https://nodejs.org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[15] Facebook Open Source. (2023). "Create React App — Set up a modern web app by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running one command" [Online]. Available: https://create-react-app.dev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[16] Google Fonts. (2024). "Nunito — Google Fonts"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https://fonts.google.com/specimen/Nunito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[17] W3C. (2023). "CSS custom properties for cascading variables"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https://www.w3.org/TR/css-variables-1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[18] Tesseract OCR. (2024). "Tesseract open source OCR engine" [Online].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Available: https://github.com/tesseract-ocr/tesseract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[19] Hugging Face. (2024). "Transformers: State-of-the-art machine learning for PyTorch,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TensorFlow, and JAX" [Online]. Available: https://huggingface.co/docs/transformers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[20] A. Conneau, K. Khandelwal, N. Goyal, V. Chaudhary, G. Wenzek, F. Guzmán, E. Grave,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M. Ott, L. Zettlemoyer, and V. Stoyanov, "Unsupervised cross-lingual representation learning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at scale," in Proc. 58th Annual Meeting of the Association for Computational Linguistics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(ACL), Online, Jul. 2020, pp. 8440–8451.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22588D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1280" y="1290256"/>
            <a:ext cx="13914239" cy="654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[21] M. Z. Iqbal, A. Hussain, and M. A. Chaudhry, "A survey on Urdu language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processing," International Journal of Advanced Computer Science and Applications, vol. 9,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no. 4, pp. 148–157, Apr. 2018.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[22] I. Chalkidis, A. Fergadiotis, and I. Androutsopoulos, "Large-scale multi-label text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classification on EU legislation," in Proc. 57th Annual Meeting of the Association for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Computational Linguistics (ACL), Florence, Italy, Jul. 2019, pp. 6314–6322.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[23] K. Lo, L. L. Wang, M. Neumann, R. Kinney, and D. Weld, "S2ORC: The semantic scholar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open research corpus," in Proc. 58th Annual Meeting of the Association for Computational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Linguistics (ACL), Online, Jul. 2020, pp. 4969–4983.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[24] N. Habash and O. Rambow, "Arabic tokenization, part-of-speech tagging and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morphological disambiguation in one fell swoop," in Proc. 43rd Annual Meeting of the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Association for Computational Linguistics (ACL), Ann Arbor, MI, Jun. 2005, pp. 573–580.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[25] M. Afzal, M. Hussain, and T. Afzal, "Urdu text recognition: A survey," International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Journal of Computer Applications, vol. 975, no. 8887, pp. 34–41, Jan. 2016.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22588D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6555" y="-4174347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86214" y="5143500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57200" y="1914034"/>
            <a:ext cx="8450252" cy="5801459"/>
            <a:chOff x="0" y="0"/>
            <a:chExt cx="941651" cy="5093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651" cy="509352"/>
            </a:xfrm>
            <a:custGeom>
              <a:avLst/>
              <a:gdLst/>
              <a:ahLst/>
              <a:cxnLst/>
              <a:rect l="l" t="t" r="r" b="b"/>
              <a:pathLst>
                <a:path w="941651" h="509352">
                  <a:moveTo>
                    <a:pt x="738451" y="0"/>
                  </a:moveTo>
                  <a:cubicBezTo>
                    <a:pt x="850681" y="0"/>
                    <a:pt x="941651" y="114015"/>
                    <a:pt x="941651" y="254676"/>
                  </a:cubicBezTo>
                  <a:cubicBezTo>
                    <a:pt x="941651" y="395337"/>
                    <a:pt x="850681" y="509352"/>
                    <a:pt x="738451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738451" y="0"/>
                  </a:lnTo>
                </a:path>
              </a:pathLst>
            </a:custGeom>
            <a:blipFill>
              <a:blip r:embed="rId4"/>
              <a:stretch>
                <a:fillRect t="-11680" b="-11680"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30692" y="4267097"/>
            <a:ext cx="7128608" cy="109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  <a:spcBef>
                <a:spcPct val="0"/>
              </a:spcBef>
            </a:pPr>
            <a:r>
              <a:rPr lang="en-US" sz="8998" b="1" u="none" strike="noStrike">
                <a:solidFill>
                  <a:srgbClr val="22588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84316" y="5613343"/>
            <a:ext cx="4934307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Any</a:t>
            </a:r>
            <a:r>
              <a:rPr lang="en-US" sz="3499" b="1" u="none" strike="noStrike">
                <a:solidFill>
                  <a:srgbClr val="22588D"/>
                </a:solidFill>
                <a:latin typeface="Poppins Bold"/>
                <a:ea typeface="Poppins Bold"/>
                <a:cs typeface="Poppins Bold"/>
                <a:sym typeface="Poppins Bold"/>
              </a:rPr>
              <a:t>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1843</Words>
  <Application>Microsoft Macintosh PowerPoint</Application>
  <PresentationFormat>Custom</PresentationFormat>
  <Paragraphs>208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Museo Moderno Bold</vt:lpstr>
      <vt:lpstr>Poppins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Presentation</dc:title>
  <cp:lastModifiedBy>Mujtaba Haider</cp:lastModifiedBy>
  <cp:revision>2</cp:revision>
  <dcterms:created xsi:type="dcterms:W3CDTF">2006-08-16T00:00:00Z</dcterms:created>
  <dcterms:modified xsi:type="dcterms:W3CDTF">2026-06-28T23:01:22Z</dcterms:modified>
  <dc:identifier>DAHNgBYiCJ4</dc:identifier>
</cp:coreProperties>
</file>